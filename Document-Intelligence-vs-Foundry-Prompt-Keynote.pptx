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914"/>
            </a:gs>
            <a:gs pos="100000">
              <a:srgbClr val="121E3C"/>
            </a:gs>
          </a:gsLst>
          <a:lin scaled="0" ang="198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70432"/>
            <a:ext cx="1371600" cy="50292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38988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3EC1F3"/>
                </a:solidFill>
                <a:latin typeface="Avenir Next"/>
              </a:rPr>
              <a:t>KNOWLEDGE SHARE  ·  DOCUMENT AI  ·  CASHBACKS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83080"/>
            <a:ext cx="6583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Avenir Next"/>
              </a:rPr>
              <a:t>Reading a document,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3EC1F3"/>
                </a:solidFill>
                <a:latin typeface="Avenir Next"/>
              </a:rPr>
              <a:t>two ways.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346704"/>
            <a:ext cx="58521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FAFC8"/>
                </a:solidFill>
                <a:latin typeface="Avenir Next"/>
              </a:rPr>
              <a:t>One image. One question: </a:t>
            </a:r>
            <a:r>
              <a:rPr sz="1350" b="1" i="0">
                <a:solidFill>
                  <a:srgbClr val="EEF2FA"/>
                </a:solidFill>
                <a:latin typeface="Avenir Next"/>
              </a:rPr>
              <a:t>what does it say?</a:t>
            </a:r>
          </a:p>
          <a:p>
            <a:pPr algn="l">
              <a:lnSpc>
                <a:spcPct val="135000"/>
              </a:lnSpc>
              <a:spcBef>
                <a:spcPts val="700"/>
              </a:spcBef>
              <a:spcAft>
                <a:spcPts val="0"/>
              </a:spcAft>
            </a:pPr>
            <a:r>
              <a:rPr sz="1350" b="0" i="0">
                <a:solidFill>
                  <a:srgbClr val="9FAFC8"/>
                </a:solidFill>
                <a:latin typeface="Avenir Next"/>
              </a:rPr>
              <a:t>A purpose-built OCR client and a single vision prompt both answer it — and they fail in completely different ways. Here is the honest comparison.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4864608"/>
            <a:ext cx="2834640" cy="841248"/>
          </a:xfrm>
          <a:prstGeom prst="roundRect">
            <a:avLst>
              <a:gd name="adj" fmla="val 14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4864608"/>
            <a:ext cx="50292" cy="841248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03834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EC1F3"/>
                </a:solidFill>
                <a:latin typeface="Avenir Next"/>
              </a:rPr>
              <a:t>A  </a:t>
            </a:r>
            <a:r>
              <a:rPr sz="1150" b="1" i="0">
                <a:solidFill>
                  <a:srgbClr val="EEF2FA"/>
                </a:solidFill>
                <a:latin typeface="Avenir Next"/>
              </a:rPr>
              <a:t>Document Intelligence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6B7C99"/>
                </a:solidFill>
                <a:latin typeface="Avenir Next"/>
              </a:rPr>
              <a:t>prebuilt-layout  ·  SDK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0168" y="4864608"/>
            <a:ext cx="2834640" cy="841248"/>
          </a:xfrm>
          <a:prstGeom prst="roundRect">
            <a:avLst>
              <a:gd name="adj" fmla="val 14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30168" y="4864608"/>
            <a:ext cx="50292" cy="841248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5038344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087FC"/>
                </a:solidFill>
                <a:latin typeface="Avenir Next"/>
              </a:rPr>
              <a:t>B  </a:t>
            </a:r>
            <a:r>
              <a:rPr sz="1150" b="1" i="0">
                <a:solidFill>
                  <a:srgbClr val="EEF2FA"/>
                </a:solidFill>
                <a:latin typeface="Avenir Next"/>
              </a:rPr>
              <a:t>Foundry prompt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>
                <a:solidFill>
                  <a:srgbClr val="6B7C99"/>
                </a:solidFill>
                <a:latin typeface="Avenir Next"/>
              </a:rPr>
              <a:t>vision model  ·  one 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42048" y="1170432"/>
            <a:ext cx="4480560" cy="4041648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Picture 12" descr="delivery-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3216" y="1481328"/>
            <a:ext cx="4078224" cy="3099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43216" y="1225296"/>
            <a:ext cx="407822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120">
                <a:solidFill>
                  <a:srgbClr val="6B7C99"/>
                </a:solidFill>
                <a:latin typeface="Avenir Next"/>
              </a:rPr>
              <a:t>THE INPUT  ·  samples/delivery-note.png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6" y="4718304"/>
            <a:ext cx="40782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Both approaches get this exact PNG. </a:t>
            </a:r>
            <a:r>
              <a:rPr sz="950" b="1" i="0">
                <a:solidFill>
                  <a:srgbClr val="EEF2FA"/>
                </a:solidFill>
                <a:latin typeface="Avenir Next"/>
              </a:rPr>
              <a:t>Neither is told what is on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1996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00">
                <a:solidFill>
                  <a:srgbClr val="6B7C99"/>
                </a:solidFill>
                <a:latin typeface="Avenir Next"/>
              </a:rPr>
              <a:t>Cashbacks.Ocr</a:t>
            </a:r>
            <a:r>
              <a:rPr sz="900" b="0" i="0">
                <a:solidFill>
                  <a:srgbClr val="4A5874"/>
                </a:solidFill>
                <a:latin typeface="Avenir Next"/>
              </a:rPr>
              <a:t>   /   .NET 8   /   Azure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A16"/>
            </a:gs>
            <a:gs pos="100000">
              <a:srgbClr val="0F18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EC1F3"/>
                </a:solidFill>
                <a:latin typeface="Avenir Next"/>
              </a:rPr>
              <a:t>01  / 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venir Next"/>
              </a:rPr>
              <a:t>Same PNG in. Very different machinery.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AFC8"/>
                </a:solidFill>
                <a:latin typeface="Avenir Next"/>
              </a:rPr>
              <a:t>One reads the page. The other interprets it. That single difference explains every pro and con that follows.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01952"/>
            <a:ext cx="5413248" cy="4224528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413248" cy="54864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7" y="2157984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0E1E"/>
                </a:solidFill>
                <a:latin typeface="Avenir Next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2130552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Azure AI Document Intelligence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 spc="30">
                <a:solidFill>
                  <a:srgbClr val="3EC1F3"/>
                </a:solidFill>
                <a:latin typeface="Avenir Next"/>
              </a:rPr>
              <a:t>prebuilt-layout  +  keyValuePairs  ·  API 2024-11-30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6148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Avenir Next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6148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Avenir Next"/>
              </a:rPr>
              <a:t>Submit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The SDK posts the file (or a public URL) and polls the long-running operation until Azure is finished.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4015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Avenir Nex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0156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Avenir Next"/>
              </a:rPr>
              <a:t>Read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A dedicated OCR engine de-skews the page and finds every word, line, table and checkbox — with coordinates.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40416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Avenir Nex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04164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Avenir Next"/>
              </a:rPr>
              <a:t>Relate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The layout model links label → value wherever that relationship physically exists on the page.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7" y="4736592"/>
            <a:ext cx="4864608" cy="658368"/>
          </a:xfrm>
          <a:prstGeom prst="roundRect">
            <a:avLst>
              <a:gd name="adj" fmla="val 9000"/>
            </a:avLst>
          </a:prstGeom>
          <a:solidFill>
            <a:srgbClr val="091020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873752"/>
            <a:ext cx="4535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3EC1F3"/>
                </a:solidFill>
                <a:latin typeface="Menlo"/>
              </a:rPr>
              <a:t>options.Features.Add(DocumentAnalysisFeature.KeyValuePairs);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9FAFC8"/>
                </a:solidFill>
                <a:latin typeface="Menlo"/>
              </a:rPr>
              <a:t>await client.AnalyzeDocumentAsync(WaitUntil.Completed, options);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5577840"/>
            <a:ext cx="48646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B7C99"/>
                </a:solidFill>
                <a:latin typeface="Avenir Next"/>
              </a:rPr>
              <a:t>RETURNS  ·  ANALYZERESULT.KEYVALUEPAIRS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40" b="0" i="0">
                <a:solidFill>
                  <a:srgbClr val="EEF2FA"/>
                </a:solidFill>
                <a:latin typeface="Menlo"/>
              </a:rPr>
              <a:t>"Invoice Number"  →  "34278587"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19" b="0" i="0">
                <a:solidFill>
                  <a:srgbClr val="3EC1F3"/>
                </a:solidFill>
                <a:latin typeface="Avenir Next"/>
              </a:rPr>
              <a:t>confidence 0.997   ·   page 1   ·   bounding polygon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01952"/>
            <a:ext cx="5413248" cy="4224528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901952"/>
            <a:ext cx="5413248" cy="54864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2157984"/>
            <a:ext cx="384048" cy="384048"/>
          </a:xfrm>
          <a:prstGeom prst="roundRect">
            <a:avLst>
              <a:gd name="adj" fmla="val 24000"/>
            </a:avLst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80E1E"/>
                </a:solidFill>
                <a:latin typeface="Avenir Next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04304" y="2130552"/>
            <a:ext cx="431596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venir Next"/>
              </a:rPr>
              <a:t>Azure AI Foundry prompt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 i="0" spc="30">
                <a:solidFill>
                  <a:srgbClr val="C087FC"/>
                </a:solidFill>
                <a:latin typeface="Avenir Next"/>
              </a:rPr>
              <a:t>vision model  +  JSON schema  ·  one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76148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Avenir Next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276148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Avenir Next"/>
              </a:rPr>
              <a:t>Attach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The image travels as base64 content in the same message as your instructions. No document service involved.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0156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Avenir Next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340156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Avenir Next"/>
              </a:rPr>
              <a:t>Ask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“Return invoiceNumber, issuedOn as ISO-8601, totalInclVat as a number.” The schema is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041648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Avenir Next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4041648"/>
            <a:ext cx="44074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EF2FA"/>
                </a:solidFill>
                <a:latin typeface="Avenir Next"/>
              </a:rPr>
              <a:t>Reason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The model reads, interprets and normalises in one pass, then emits JSON in the shape you asked for.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736592"/>
            <a:ext cx="4864608" cy="658368"/>
          </a:xfrm>
          <a:prstGeom prst="roundRect">
            <a:avLst>
              <a:gd name="adj" fmla="val 9000"/>
            </a:avLst>
          </a:prstGeom>
          <a:solidFill>
            <a:srgbClr val="091020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4873752"/>
            <a:ext cx="453542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C087FC"/>
                </a:solidFill>
                <a:latin typeface="Menlo"/>
              </a:rPr>
              <a:t>content: [ { type: "image", source }, { type: "text", text } 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9FAFC8"/>
                </a:solidFill>
                <a:latin typeface="Menlo"/>
              </a:rPr>
              <a:t>response_format: { type: "json_schema", strict: true 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577840"/>
            <a:ext cx="48646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6B7C99"/>
                </a:solidFill>
                <a:latin typeface="Avenir Next"/>
              </a:rPr>
              <a:t>RETURNS  ·  YOUR OWN OBJECT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40" b="0" i="0">
                <a:solidFill>
                  <a:srgbClr val="EEF2FA"/>
                </a:solidFill>
                <a:latin typeface="Menlo"/>
              </a:rPr>
              <a:t>{ "invoiceNumber": "34278587", "issuedOn": "2017-06-18" }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19" b="0" i="0">
                <a:solidFill>
                  <a:srgbClr val="C087FC"/>
                </a:solidFill>
                <a:latin typeface="Avenir Next"/>
              </a:rPr>
              <a:t>no coordinates   ·   no confidence   ·   no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Avenir Next"/>
              </a:rPr>
              <a:t>Document Intelligence vs. Foundry prompt  ·  Cashbacks.Ocr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Avenir Next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A16"/>
            </a:gs>
            <a:gs pos="100000">
              <a:srgbClr val="0F18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EC1F3"/>
                </a:solidFill>
                <a:latin typeface="Avenir Next"/>
              </a:rPr>
              <a:t>02  /  THE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venir Next"/>
              </a:rPr>
              <a:t>What each is great at — and exactly where it hurts.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26464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AFC8"/>
                </a:solidFill>
                <a:latin typeface="Avenir Next"/>
              </a:rPr>
              <a:t>Neither is simply “better”. They have opposite strengths, and only one of them fails quietly.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828800"/>
            <a:ext cx="539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Azure AI Document Intelligence</a:t>
            </a:r>
            <a:r>
              <a:rPr sz="1000" b="0" i="0">
                <a:solidFill>
                  <a:srgbClr val="3EC1F3"/>
                </a:solidFill>
                <a:latin typeface="Avenir Next"/>
              </a:rPr>
              <a:t>   the SDK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139696"/>
            <a:ext cx="5394959" cy="27432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19" y="1828800"/>
            <a:ext cx="539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Azure AI Foundry prompt</a:t>
            </a:r>
            <a:r>
              <a:rPr sz="1000" b="0" i="0">
                <a:solidFill>
                  <a:srgbClr val="C087FC"/>
                </a:solidFill>
                <a:latin typeface="Avenir Next"/>
              </a:rPr>
              <a:t>   one vision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1" y="2139696"/>
            <a:ext cx="5394959" cy="27432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212848"/>
            <a:ext cx="2578608" cy="3822191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43230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DE80"/>
                </a:solidFill>
                <a:latin typeface="Avenir Next"/>
              </a:rPr>
              <a:t>✓   </a:t>
            </a:r>
            <a:r>
              <a:rPr sz="900" b="1" i="0" spc="140">
                <a:solidFill>
                  <a:srgbClr val="4ADE80"/>
                </a:solidFill>
                <a:latin typeface="Avenir Next"/>
              </a:rPr>
              <a:t>STRENGTHS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2761488"/>
            <a:ext cx="2103120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Deterministic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The same file returns the same JSON on every run. Diffable, testable, cacheable.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66582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Evidence attached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Confidence, page number and a bounding polygon for every pair it returns.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423867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Built for bad paper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Skew, low contrast, tables, checkboxes, multi-page PDF, 100+ languages.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5181904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Predictable cost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Billed per page — and keyValuePairs is a free add-on on the 2024-11-30 API.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212848"/>
            <a:ext cx="2578608" cy="3822191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243230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venir Next"/>
              </a:rPr>
              <a:t>✕   </a:t>
            </a:r>
            <a:r>
              <a:rPr sz="900" b="1" i="0" spc="140">
                <a:solidFill>
                  <a:srgbClr val="FB7185"/>
                </a:solidFill>
                <a:latin typeface="Avenir Next"/>
              </a:rPr>
              <a:t>WHERE IT HURTS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1024" y="2761488"/>
            <a:ext cx="2103120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1024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Reads, never infers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A landscape photo or a page of prose comes back with zero pairs.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351678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The document's vocabulary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You get “Inv. No”, not invoiceNumber. Mapping to your model is your problem.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1024" y="42748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No semantics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It will not normalise a date, convert a currency or total a column.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488381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Named fields are billed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queryFields is a premium add-on, capped at 20 fields you must know upfront.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9632" y="2212848"/>
            <a:ext cx="2578608" cy="3822191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43230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ADE80"/>
                </a:solidFill>
                <a:latin typeface="Avenir Next"/>
              </a:rPr>
              <a:t>✓   </a:t>
            </a:r>
            <a:r>
              <a:rPr sz="900" b="1" i="0" spc="140">
                <a:solidFill>
                  <a:srgbClr val="4ADE80"/>
                </a:solidFill>
                <a:latin typeface="Avenir Next"/>
              </a:rPr>
              <a:t>STRENGTHS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37376" y="2761488"/>
            <a:ext cx="2103120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You define the shape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Ask for your field names and get precisely that JSON 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516782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Reads and reasons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Normalises dates, currencies, synonyms and totals inside the same call.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27482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Owns the long tail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Photos, screenshots, handwriting, prose — where the client returns nothing.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5032857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Minutes, not sprints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Iterate in the Foundry playground before a line of code ships.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15984" y="2212848"/>
            <a:ext cx="2578608" cy="3822191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53728" y="2432304"/>
            <a:ext cx="2121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Avenir Next"/>
              </a:rPr>
              <a:t>✕   </a:t>
            </a:r>
            <a:r>
              <a:rPr sz="900" b="1" i="0" spc="140">
                <a:solidFill>
                  <a:srgbClr val="FB7185"/>
                </a:solidFill>
                <a:latin typeface="Avenir Next"/>
              </a:rPr>
              <a:t>WHERE IT HURTS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53728" y="2761488"/>
            <a:ext cx="2103120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53728" y="2907791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Probabilistic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The same image can answer differently. Needs temperature 0, evals and a golden set.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3665829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Hallucination is the failure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A plausible invoice number that was never on the page — stated confidently.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423867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No boxes, no confidence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Nothing to highlight in a review UI, and a thin audit trail.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53728" y="5032857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EF2FA"/>
                </a:solidFill>
                <a:latin typeface="Avenir Next"/>
              </a:rPr>
              <a:t>Cost tracks pixels</a:t>
            </a:r>
          </a:p>
          <a:p>
            <a:pPr algn="l">
              <a:lnSpc>
                <a:spcPct val="12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0" i="0">
                <a:solidFill>
                  <a:srgbClr val="9FAFC8"/>
                </a:solidFill>
                <a:latin typeface="Avenir Next"/>
              </a:rPr>
              <a:t>Tokens scale with resolution and page count; model upgrades shift the output.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Avenir Next"/>
              </a:rPr>
              <a:t>Document Intelligence vs. Foundry prompt  ·  Cashbacks.Ocr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Avenir Next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A16"/>
            </a:gs>
            <a:gs pos="100000">
              <a:srgbClr val="0F18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EC1F3"/>
                </a:solidFill>
                <a:latin typeface="Avenir Next"/>
              </a:rPr>
              <a:t>03  /  HEAD TO 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venir Next"/>
              </a:rPr>
              <a:t>Ten dimensions, scored.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AFC8"/>
                </a:solidFill>
                <a:latin typeface="Avenir Next"/>
              </a:rPr>
              <a:t>Five dots is best in class. Neither column wins outright — they win different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92024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6B7C99"/>
                </a:solidFill>
                <a:latin typeface="Avenir Next"/>
              </a:rPr>
              <a:t>DIMENSION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90288" y="1920240"/>
            <a:ext cx="36758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3EC1F3"/>
                </a:solidFill>
                <a:latin typeface="Avenir Next"/>
              </a:rPr>
              <a:t>DOCUMENT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7616" y="1920240"/>
            <a:ext cx="3264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C087FC"/>
                </a:solidFill>
                <a:latin typeface="Avenir Next"/>
              </a:rPr>
              <a:t>FOUNDRY PROMPT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12848"/>
            <a:ext cx="11055096" cy="18288"/>
          </a:xfrm>
          <a:prstGeom prst="rect">
            <a:avLst/>
          </a:prstGeom>
          <a:solidFill>
            <a:srgbClr val="27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623" y="225856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408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Avenir Next"/>
              </a:rPr>
              <a:t>Raw OCR on poor scans</a:t>
            </a:r>
          </a:p>
        </p:txBody>
      </p:sp>
      <p:sp>
        <p:nvSpPr>
          <p:cNvPr id="11" name="Oval 10"/>
          <p:cNvSpPr/>
          <p:nvPr/>
        </p:nvSpPr>
        <p:spPr>
          <a:xfrm>
            <a:off x="4590288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2875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55464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88051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20640" y="24094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3408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Purpose-built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8357616" y="240944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90204" y="240944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22792" y="240944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755380" y="24094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87968" y="24094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3408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Good, fades on faint scans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7066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Avenir Next"/>
              </a:rPr>
              <a:t>Tables, checkboxes, long PDFs</a:t>
            </a:r>
          </a:p>
        </p:txBody>
      </p:sp>
      <p:sp>
        <p:nvSpPr>
          <p:cNvPr id="24" name="Oval 23"/>
          <p:cNvSpPr/>
          <p:nvPr/>
        </p:nvSpPr>
        <p:spPr>
          <a:xfrm>
            <a:off x="4590288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22875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5464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88051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20640" y="27752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76672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Native and structured</a:t>
            </a:r>
          </a:p>
        </p:txBody>
      </p:sp>
      <p:sp>
        <p:nvSpPr>
          <p:cNvPr id="30" name="Oval 29"/>
          <p:cNvSpPr/>
          <p:nvPr/>
        </p:nvSpPr>
        <p:spPr>
          <a:xfrm>
            <a:off x="8357616" y="277520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90204" y="277520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22792" y="27752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5380" y="27752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887968" y="27752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7066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Drifts on dense tables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3" y="299008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307238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Avenir Next"/>
              </a:rPr>
              <a:t>Photos, prose, handwriting</a:t>
            </a:r>
          </a:p>
        </p:txBody>
      </p:sp>
      <p:sp>
        <p:nvSpPr>
          <p:cNvPr id="38" name="Oval 37"/>
          <p:cNvSpPr/>
          <p:nvPr/>
        </p:nvSpPr>
        <p:spPr>
          <a:xfrm>
            <a:off x="4590288" y="31409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22875" y="31409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855464" y="31409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988051" y="31409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120640" y="31409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76672" y="30723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Returns no pairs at all</a:t>
            </a:r>
          </a:p>
        </p:txBody>
      </p:sp>
      <p:sp>
        <p:nvSpPr>
          <p:cNvPr id="44" name="Oval 43"/>
          <p:cNvSpPr/>
          <p:nvPr/>
        </p:nvSpPr>
        <p:spPr>
          <a:xfrm>
            <a:off x="8357616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90204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622792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55380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887968" y="31409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30723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Its home turf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4381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Avenir Next"/>
              </a:rPr>
              <a:t>Output matches your schema</a:t>
            </a:r>
          </a:p>
        </p:txBody>
      </p:sp>
      <p:sp>
        <p:nvSpPr>
          <p:cNvPr id="51" name="Oval 50"/>
          <p:cNvSpPr/>
          <p:nvPr/>
        </p:nvSpPr>
        <p:spPr>
          <a:xfrm>
            <a:off x="4590288" y="35067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722875" y="35067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855464" y="35067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988051" y="35067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120640" y="35067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76672" y="34381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The document's own keys</a:t>
            </a:r>
          </a:p>
        </p:txBody>
      </p:sp>
      <p:sp>
        <p:nvSpPr>
          <p:cNvPr id="57" name="Oval 56"/>
          <p:cNvSpPr/>
          <p:nvPr/>
        </p:nvSpPr>
        <p:spPr>
          <a:xfrm>
            <a:off x="8357616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490204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622792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55380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887968" y="35067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34381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You dictate the JSON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0623" y="372160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66928" y="38039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Avenir Next"/>
              </a:rPr>
              <a:t>Determinism, run to run</a:t>
            </a:r>
          </a:p>
        </p:txBody>
      </p:sp>
      <p:sp>
        <p:nvSpPr>
          <p:cNvPr id="65" name="Oval 64"/>
          <p:cNvSpPr/>
          <p:nvPr/>
        </p:nvSpPr>
        <p:spPr>
          <a:xfrm>
            <a:off x="4590288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722875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855464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988051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120640" y="38724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76672" y="38039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Byte-stable</a:t>
            </a:r>
          </a:p>
        </p:txBody>
      </p:sp>
      <p:sp>
        <p:nvSpPr>
          <p:cNvPr id="71" name="Oval 70"/>
          <p:cNvSpPr/>
          <p:nvPr/>
        </p:nvSpPr>
        <p:spPr>
          <a:xfrm>
            <a:off x="8357616" y="38724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8490204" y="38724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622792" y="38724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755380" y="38724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887968" y="38724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0" y="38039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Varies without pinning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41696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Avenir Next"/>
              </a:rPr>
              <a:t>Confidence + bounding boxes</a:t>
            </a:r>
          </a:p>
        </p:txBody>
      </p:sp>
      <p:sp>
        <p:nvSpPr>
          <p:cNvPr id="78" name="Oval 77"/>
          <p:cNvSpPr/>
          <p:nvPr/>
        </p:nvSpPr>
        <p:spPr>
          <a:xfrm>
            <a:off x="4590288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722875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855464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88051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5120640" y="423824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76672" y="41696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On every pair</a:t>
            </a:r>
          </a:p>
        </p:txBody>
      </p:sp>
      <p:sp>
        <p:nvSpPr>
          <p:cNvPr id="84" name="Oval 83"/>
          <p:cNvSpPr/>
          <p:nvPr/>
        </p:nvSpPr>
        <p:spPr>
          <a:xfrm>
            <a:off x="8357616" y="423824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490204" y="42382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622792" y="42382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755380" y="42382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8887968" y="423824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144000" y="416966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Not available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20623" y="445312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53542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Avenir Next"/>
              </a:rPr>
              <a:t>Resistance to hallucination</a:t>
            </a:r>
          </a:p>
        </p:txBody>
      </p:sp>
      <p:sp>
        <p:nvSpPr>
          <p:cNvPr id="92" name="Oval 91"/>
          <p:cNvSpPr/>
          <p:nvPr/>
        </p:nvSpPr>
        <p:spPr>
          <a:xfrm>
            <a:off x="4590288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722875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855464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988051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120640" y="460400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76672" y="45354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Reports only what it read</a:t>
            </a:r>
          </a:p>
        </p:txBody>
      </p:sp>
      <p:sp>
        <p:nvSpPr>
          <p:cNvPr id="98" name="Oval 97"/>
          <p:cNvSpPr/>
          <p:nvPr/>
        </p:nvSpPr>
        <p:spPr>
          <a:xfrm>
            <a:off x="8357616" y="460400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490204" y="460400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622792" y="46040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755380" y="46040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887968" y="460400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144000" y="45354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Real, and silent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490118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2FA"/>
                </a:solidFill>
                <a:latin typeface="Avenir Next"/>
              </a:rPr>
              <a:t>Cost profile</a:t>
            </a:r>
          </a:p>
        </p:txBody>
      </p:sp>
      <p:sp>
        <p:nvSpPr>
          <p:cNvPr id="105" name="Oval 104"/>
          <p:cNvSpPr/>
          <p:nvPr/>
        </p:nvSpPr>
        <p:spPr>
          <a:xfrm>
            <a:off x="4590288" y="49697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722875" y="49697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55464" y="49697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988051" y="496976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5120640" y="49697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76672" y="49011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Per page, predictable</a:t>
            </a:r>
          </a:p>
        </p:txBody>
      </p:sp>
      <p:sp>
        <p:nvSpPr>
          <p:cNvPr id="111" name="Oval 110"/>
          <p:cNvSpPr/>
          <p:nvPr/>
        </p:nvSpPr>
        <p:spPr>
          <a:xfrm>
            <a:off x="8357616" y="49697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490204" y="49697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8622792" y="496976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755380" y="49697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887968" y="496976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144000" y="490118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Per token, tracks pixels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420623" y="5184648"/>
            <a:ext cx="11347704" cy="365760"/>
          </a:xfrm>
          <a:prstGeom prst="roundRect">
            <a:avLst>
              <a:gd name="adj" fmla="val 3000"/>
            </a:avLst>
          </a:prstGeom>
          <a:solidFill>
            <a:srgbClr val="1019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66928" y="526694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EF2FA"/>
                </a:solidFill>
                <a:latin typeface="Avenir Next"/>
              </a:rPr>
              <a:t>Latency</a:t>
            </a:r>
          </a:p>
        </p:txBody>
      </p:sp>
      <p:sp>
        <p:nvSpPr>
          <p:cNvPr id="119" name="Oval 118"/>
          <p:cNvSpPr/>
          <p:nvPr/>
        </p:nvSpPr>
        <p:spPr>
          <a:xfrm>
            <a:off x="4590288" y="53355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4722875" y="53355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4855464" y="533552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4988051" y="53355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120640" y="53355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376672" y="52669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Polled long-running op</a:t>
            </a:r>
          </a:p>
        </p:txBody>
      </p:sp>
      <p:sp>
        <p:nvSpPr>
          <p:cNvPr id="125" name="Oval 124"/>
          <p:cNvSpPr/>
          <p:nvPr/>
        </p:nvSpPr>
        <p:spPr>
          <a:xfrm>
            <a:off x="8357616" y="53355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490204" y="53355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622792" y="533552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755380" y="53355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887968" y="533552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9144000" y="526694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Variable under quota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66928" y="56327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EF2FA"/>
                </a:solidFill>
                <a:latin typeface="Avenir Next"/>
              </a:rPr>
              <a:t>Time to first result</a:t>
            </a:r>
          </a:p>
        </p:txBody>
      </p:sp>
      <p:sp>
        <p:nvSpPr>
          <p:cNvPr id="132" name="Oval 131"/>
          <p:cNvSpPr/>
          <p:nvPr/>
        </p:nvSpPr>
        <p:spPr>
          <a:xfrm>
            <a:off x="4590288" y="57012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4722875" y="5701284"/>
            <a:ext cx="86868" cy="86868"/>
          </a:xfrm>
          <a:prstGeom prst="ellipse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4855464" y="57012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4988051" y="57012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5120640" y="5701284"/>
            <a:ext cx="86868" cy="86868"/>
          </a:xfrm>
          <a:prstGeom prst="ellipse">
            <a:avLst/>
          </a:prstGeom>
          <a:solidFill>
            <a:srgbClr val="242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376672" y="56327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FAFC8"/>
                </a:solidFill>
                <a:latin typeface="Avenir Next"/>
              </a:rPr>
              <a:t>Provision, SDK, code</a:t>
            </a:r>
          </a:p>
        </p:txBody>
      </p:sp>
      <p:sp>
        <p:nvSpPr>
          <p:cNvPr id="138" name="Oval 137"/>
          <p:cNvSpPr/>
          <p:nvPr/>
        </p:nvSpPr>
        <p:spPr>
          <a:xfrm>
            <a:off x="8357616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490204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8622792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8755380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8887968" y="5701284"/>
            <a:ext cx="86868" cy="86868"/>
          </a:xfrm>
          <a:prstGeom prst="ellipse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144000" y="563270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EF2FA"/>
                </a:solidFill>
                <a:latin typeface="Avenir Next"/>
              </a:rPr>
              <a:t>One prompt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Avenir Next"/>
              </a:rPr>
              <a:t>Document Intelligence vs. Foundry prompt  ·  Cashbacks.Ocr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Avenir Next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60A16"/>
            </a:gs>
            <a:gs pos="100000">
              <a:srgbClr val="0F183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30352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4ADE80"/>
                </a:solidFill>
                <a:latin typeface="Avenir Next"/>
              </a:rPr>
              <a:t>04  /  THE PATTERN WE RECOMMEND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venir Next"/>
              </a:rPr>
              <a:t>Ground it first, then let the model think.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4475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FAFC8"/>
                </a:solidFill>
                <a:latin typeface="Avenir Next"/>
              </a:rPr>
              <a:t>The client supplies the truth; the prompt supplies the shape. Each covers the other's failure mode.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56816"/>
            <a:ext cx="1975104" cy="45720"/>
          </a:xfrm>
          <a:prstGeom prst="rect">
            <a:avLst/>
          </a:prstGeom>
          <a:solidFill>
            <a:srgbClr val="6B7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Image or PDF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Avenir Next"/>
              </a:rPr>
              <a:t>Receipt, invoice, statement — any of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780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4A70"/>
                </a:solidFill>
                <a:latin typeface="Avenir Next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956816"/>
            <a:ext cx="1975104" cy="45720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Document Intelligence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Avenir Next"/>
              </a:rPr>
              <a:t>OCR text, layout, tables, boxes,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24780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4A70"/>
                </a:solidFill>
                <a:latin typeface="Avenir Nex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02352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02352" y="1956816"/>
            <a:ext cx="1975104" cy="45720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Foundry prompt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Avenir Next"/>
              </a:rPr>
              <a:t>Map that text into your schema. Text in, not pixels.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5744" y="24780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4A70"/>
                </a:solidFill>
                <a:latin typeface="Avenir Nex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70063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70063" y="1956816"/>
            <a:ext cx="1975104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71231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Validate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Avenir Next"/>
              </a:rPr>
              <a:t>Every value must trace back to the OCR text.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5" y="247802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A4A70"/>
                </a:solidFill>
                <a:latin typeface="Avenir Next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7776" y="1956816"/>
            <a:ext cx="1975104" cy="1335024"/>
          </a:xfrm>
          <a:prstGeom prst="roundRect">
            <a:avLst>
              <a:gd name="adj" fmla="val 7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37776" y="1956816"/>
            <a:ext cx="19751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38944" y="2194560"/>
            <a:ext cx="15727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venir Next"/>
              </a:rPr>
              <a:t>Typed record</a:t>
            </a:r>
          </a:p>
          <a:p>
            <a:pPr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9FAFC8"/>
                </a:solidFill>
                <a:latin typeface="Avenir Next"/>
              </a:rPr>
              <a:t>Your object, plus the evidence behind each field.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529584"/>
            <a:ext cx="11055096" cy="676656"/>
          </a:xfrm>
          <a:prstGeom prst="roundRect">
            <a:avLst>
              <a:gd name="adj" fmla="val 10000"/>
            </a:avLst>
          </a:prstGeom>
          <a:solidFill>
            <a:srgbClr val="0E1F1C"/>
          </a:solidFill>
          <a:ln w="12700">
            <a:solidFill>
              <a:srgbClr val="1E4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639312"/>
            <a:ext cx="106070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ADE80"/>
                </a:solidFill>
                <a:latin typeface="Avenir Next"/>
              </a:rPr>
              <a:t>The guardrail:  </a:t>
            </a:r>
            <a:r>
              <a:rPr sz="1050" b="0" i="0">
                <a:solidFill>
                  <a:srgbClr val="9FAFC8"/>
                </a:solidFill>
                <a:latin typeface="Avenir Next"/>
              </a:rPr>
              <a:t>if a field the model returned does not appear in the OCR text, it is a hallucination — reject it, or route it to a human. That one rule turns a probabilistic reader into an auditable one.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334256"/>
            <a:ext cx="5413248" cy="1700784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334256"/>
            <a:ext cx="50292" cy="1700784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4517136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Reach for the client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30" b="0" i="0">
                <a:solidFill>
                  <a:srgbClr val="3EC1F3"/>
                </a:solidFill>
                <a:latin typeface="Avenir Next"/>
              </a:rPr>
              <a:t>when the answer must be defensible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0474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Avenir Next"/>
              </a:rPr>
              <a:t>·  </a:t>
            </a:r>
            <a:r>
              <a:rPr sz="1000" b="0" i="0">
                <a:solidFill>
                  <a:srgbClr val="9FAFC8"/>
                </a:solidFill>
                <a:latin typeface="Avenir Next"/>
              </a:rPr>
              <a:t>The value ends up in a ledger, a claim or an audit trail.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" y="52623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Avenir Next"/>
              </a:rPr>
              <a:t>·  </a:t>
            </a:r>
            <a:r>
              <a:rPr sz="1000" b="0" i="0">
                <a:solidFill>
                  <a:srgbClr val="9FAFC8"/>
                </a:solidFill>
                <a:latin typeface="Avenir Next"/>
              </a:rPr>
              <a:t>Volume is high and the layout is stable — invoices, statements, forms.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547725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EC1F3"/>
                </a:solidFill>
                <a:latin typeface="Avenir Next"/>
              </a:rPr>
              <a:t>·  </a:t>
            </a:r>
            <a:r>
              <a:rPr sz="1000" b="0" i="0">
                <a:solidFill>
                  <a:srgbClr val="9FAFC8"/>
                </a:solidFill>
                <a:latin typeface="Avenir Next"/>
              </a:rPr>
              <a:t>A reviewer needs to see where on the page the number came from.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334256"/>
            <a:ext cx="5413248" cy="1700784"/>
          </a:xfrm>
          <a:prstGeom prst="roundRect">
            <a:avLst>
              <a:gd name="adj" fmla="val 5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334256"/>
            <a:ext cx="50292" cy="1700784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517136"/>
            <a:ext cx="48646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venir Next"/>
              </a:rPr>
              <a:t>Reach for the prompt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30" b="0" i="0">
                <a:solidFill>
                  <a:srgbClr val="C087FC"/>
                </a:solidFill>
                <a:latin typeface="Avenir Next"/>
              </a:rPr>
              <a:t>when the input refuses to be a 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04748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Avenir Next"/>
              </a:rPr>
              <a:t>·  </a:t>
            </a:r>
            <a:r>
              <a:rPr sz="1000" b="0" i="0">
                <a:solidFill>
                  <a:srgbClr val="9FAFC8"/>
                </a:solidFill>
                <a:latin typeface="Avenir Next"/>
              </a:rPr>
              <a:t>The document is a photo, a screenshot, a note or free-flowing prose.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5262372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Avenir Next"/>
              </a:rPr>
              <a:t>·  </a:t>
            </a:r>
            <a:r>
              <a:rPr sz="1000" b="0" i="0">
                <a:solidFill>
                  <a:srgbClr val="9FAFC8"/>
                </a:solidFill>
                <a:latin typeface="Avenir Next"/>
              </a:rPr>
              <a:t>You need your schema — normalised dates, currencies, categories — not the page's labels.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563727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87FC"/>
                </a:solidFill>
                <a:latin typeface="Avenir Next"/>
              </a:rPr>
              <a:t>·  </a:t>
            </a:r>
            <a:r>
              <a:rPr sz="1000" b="0" i="0">
                <a:solidFill>
                  <a:srgbClr val="9FAFC8"/>
                </a:solidFill>
                <a:latin typeface="Avenir Next"/>
              </a:rPr>
              <a:t>You are exploring: prove the value today, harden the pipeline later.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Avenir Next"/>
              </a:rPr>
              <a:t>Document Intelligence vs. Foundry prompt  ·  Cashbacks.Ocr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Avenir Next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50914"/>
            </a:gs>
            <a:gs pos="100000">
              <a:srgbClr val="121E3C"/>
            </a:gs>
          </a:gsLst>
          <a:lin scaled="0" ang="198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88720"/>
            <a:ext cx="1371600" cy="50292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0817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C087FC"/>
                </a:solidFill>
                <a:latin typeface="Avenir Next"/>
              </a:rPr>
              <a:t>05  / 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92224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venir Next"/>
              </a:rPr>
              <a:t>Don't pick a winner.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C087FC"/>
                </a:solidFill>
                <a:latin typeface="Avenir Next"/>
              </a:rPr>
              <a:t>Pick the failure mode you can live with.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803904"/>
            <a:ext cx="3538728" cy="1444752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3803904"/>
            <a:ext cx="3538728" cy="45720"/>
          </a:xfrm>
          <a:prstGeom prst="rect">
            <a:avLst/>
          </a:prstGeom>
          <a:solidFill>
            <a:srgbClr val="3EC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416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Silence vs. invention</a:t>
            </a:r>
          </a:p>
          <a:p>
            <a:pPr algn="l">
              <a:lnSpc>
                <a:spcPct val="124000"/>
              </a:lnSpc>
              <a:spcBef>
                <a:spcPts val="7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The client fails loudly — zero pairs, and you know it. The prompt fails quietly — a confident value that was never on the page. Silence is the cheaper bug.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3803904"/>
            <a:ext cx="3538728" cy="1444752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3803904"/>
            <a:ext cx="3538728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40416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Evidence is the product</a:t>
            </a:r>
          </a:p>
          <a:p>
            <a:pPr algn="l">
              <a:lnSpc>
                <a:spcPct val="124000"/>
              </a:lnSpc>
              <a:spcBef>
                <a:spcPts val="7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Confidence scores and bounding boxes are not extras. They are what lets a human review a decision, and what an auditor will ask for.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3803904"/>
            <a:ext cx="3538728" cy="1444752"/>
          </a:xfrm>
          <a:prstGeom prst="roundRect">
            <a:avLst>
              <a:gd name="adj" fmla="val 6000"/>
            </a:avLst>
          </a:prstGeom>
          <a:solidFill>
            <a:srgbClr val="121B33"/>
          </a:solidFill>
          <a:ln w="12700">
            <a:solidFill>
              <a:srgbClr val="27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3803904"/>
            <a:ext cx="3538728" cy="45720"/>
          </a:xfrm>
          <a:prstGeom prst="rect">
            <a:avLst/>
          </a:prstGeom>
          <a:solidFill>
            <a:srgbClr val="C08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7" y="4041648"/>
            <a:ext cx="302666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Ship the hybrid</a:t>
            </a:r>
          </a:p>
          <a:p>
            <a:pPr algn="l">
              <a:lnSpc>
                <a:spcPct val="124000"/>
              </a:lnSpc>
              <a:spcBef>
                <a:spcPts val="700"/>
              </a:spcBef>
              <a:spcAft>
                <a:spcPts val="0"/>
              </a:spcAft>
            </a:pPr>
            <a:r>
              <a:rPr sz="980" b="0" i="0">
                <a:solidFill>
                  <a:srgbClr val="9FAFC8"/>
                </a:solidFill>
                <a:latin typeface="Avenir Next"/>
              </a:rPr>
              <a:t>Grounded extraction, then a prompt to map it into your schema, then validation against the OCR text. Cheaper than defending either extreme.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797296"/>
            <a:ext cx="1105509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C99"/>
                </a:solidFill>
                <a:latin typeface="Avenir Next"/>
              </a:rPr>
              <a:t>Try it on your own file:   </a:t>
            </a:r>
            <a:r>
              <a:rPr sz="1050" b="0" i="0">
                <a:solidFill>
                  <a:srgbClr val="3EC1F3"/>
                </a:solidFill>
                <a:latin typeface="Menlo"/>
              </a:rPr>
              <a:t>dotnet run --project src/Cashbacks.Ocr -- samples/delivery-note.png --json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8251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spc="50">
                <a:solidFill>
                  <a:srgbClr val="6B7C99"/>
                </a:solidFill>
                <a:latin typeface="Avenir Next"/>
              </a:rPr>
              <a:t>Bracha Group  ·  Cashbacks platform  ·  Document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809" y="6382512"/>
            <a:ext cx="713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C99"/>
                </a:solidFill>
                <a:latin typeface="Avenir Next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